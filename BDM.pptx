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uce Bold" charset="1" panose="00000800000000000000"/>
      <p:regular r:id="rId16"/>
    </p:embeddedFont>
    <p:embeddedFont>
      <p:font typeface="Canva Sans Bold" charset="1" panose="020B0803030501040103"/>
      <p:regular r:id="rId17"/>
    </p:embeddedFont>
    <p:embeddedFont>
      <p:font typeface="Canva Sans" charset="1" panose="020B0503030501040103"/>
      <p:regular r:id="rId18"/>
    </p:embeddedFont>
    <p:embeddedFont>
      <p:font typeface="Open Sauce"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2056928" y="7501774"/>
            <a:ext cx="5727563" cy="2261328"/>
            <a:chOff x="0" y="0"/>
            <a:chExt cx="1508494" cy="595576"/>
          </a:xfrm>
        </p:grpSpPr>
        <p:sp>
          <p:nvSpPr>
            <p:cNvPr name="Freeform 4" id="4"/>
            <p:cNvSpPr/>
            <p:nvPr/>
          </p:nvSpPr>
          <p:spPr>
            <a:xfrm flipH="false" flipV="false" rot="0">
              <a:off x="0" y="0"/>
              <a:ext cx="1508494" cy="595576"/>
            </a:xfrm>
            <a:custGeom>
              <a:avLst/>
              <a:gdLst/>
              <a:ahLst/>
              <a:cxnLst/>
              <a:rect r="r" b="b" t="t" l="l"/>
              <a:pathLst>
                <a:path h="595576" w="1508494">
                  <a:moveTo>
                    <a:pt x="37847" y="0"/>
                  </a:moveTo>
                  <a:lnTo>
                    <a:pt x="1470646" y="0"/>
                  </a:lnTo>
                  <a:cubicBezTo>
                    <a:pt x="1491549" y="0"/>
                    <a:pt x="1508494" y="16945"/>
                    <a:pt x="1508494" y="37847"/>
                  </a:cubicBezTo>
                  <a:lnTo>
                    <a:pt x="1508494" y="557729"/>
                  </a:lnTo>
                  <a:cubicBezTo>
                    <a:pt x="1508494" y="567766"/>
                    <a:pt x="1504507" y="577393"/>
                    <a:pt x="1497409" y="584491"/>
                  </a:cubicBezTo>
                  <a:cubicBezTo>
                    <a:pt x="1490311" y="591589"/>
                    <a:pt x="1480684" y="595576"/>
                    <a:pt x="1470646" y="595576"/>
                  </a:cubicBezTo>
                  <a:lnTo>
                    <a:pt x="37847" y="595576"/>
                  </a:lnTo>
                  <a:cubicBezTo>
                    <a:pt x="27810" y="595576"/>
                    <a:pt x="18183" y="591589"/>
                    <a:pt x="11085" y="584491"/>
                  </a:cubicBezTo>
                  <a:cubicBezTo>
                    <a:pt x="3987" y="577393"/>
                    <a:pt x="0" y="567766"/>
                    <a:pt x="0" y="557729"/>
                  </a:cubicBezTo>
                  <a:lnTo>
                    <a:pt x="0" y="37847"/>
                  </a:lnTo>
                  <a:cubicBezTo>
                    <a:pt x="0" y="16945"/>
                    <a:pt x="16945" y="0"/>
                    <a:pt x="37847" y="0"/>
                  </a:cubicBezTo>
                  <a:close/>
                </a:path>
              </a:pathLst>
            </a:custGeom>
            <a:solidFill>
              <a:srgbClr val="073699"/>
            </a:solidFill>
          </p:spPr>
        </p:sp>
        <p:sp>
          <p:nvSpPr>
            <p:cNvPr name="TextBox 5" id="5"/>
            <p:cNvSpPr txBox="true"/>
            <p:nvPr/>
          </p:nvSpPr>
          <p:spPr>
            <a:xfrm>
              <a:off x="0" y="0"/>
              <a:ext cx="1508494" cy="595576"/>
            </a:xfrm>
            <a:prstGeom prst="rect">
              <a:avLst/>
            </a:prstGeom>
          </p:spPr>
          <p:txBody>
            <a:bodyPr anchor="ctr" rtlCol="false" tIns="50800" lIns="50800" bIns="50800" rIns="50800"/>
            <a:lstStyle/>
            <a:p>
              <a:pPr algn="ctr">
                <a:lnSpc>
                  <a:spcPts val="2879"/>
                </a:lnSpc>
              </a:pPr>
            </a:p>
          </p:txBody>
        </p:sp>
      </p:grpSp>
      <p:sp>
        <p:nvSpPr>
          <p:cNvPr name="Freeform 6" id="6"/>
          <p:cNvSpPr/>
          <p:nvPr/>
        </p:nvSpPr>
        <p:spPr>
          <a:xfrm flipH="false" flipV="false" rot="0">
            <a:off x="15205230" y="7729308"/>
            <a:ext cx="720779" cy="559769"/>
          </a:xfrm>
          <a:custGeom>
            <a:avLst/>
            <a:gdLst/>
            <a:ahLst/>
            <a:cxnLst/>
            <a:rect r="r" b="b" t="t" l="l"/>
            <a:pathLst>
              <a:path h="559769" w="720779">
                <a:moveTo>
                  <a:pt x="0" y="0"/>
                </a:moveTo>
                <a:lnTo>
                  <a:pt x="720779" y="0"/>
                </a:lnTo>
                <a:lnTo>
                  <a:pt x="720779" y="559769"/>
                </a:lnTo>
                <a:lnTo>
                  <a:pt x="0" y="559769"/>
                </a:lnTo>
                <a:lnTo>
                  <a:pt x="0" y="0"/>
                </a:lnTo>
                <a:close/>
              </a:path>
            </a:pathLst>
          </a:custGeom>
          <a:blipFill>
            <a:blip r:embed="rId3">
              <a:extLst>
                <a:ext uri="{96DAC541-7B7A-43D3-8B79-37D633B846F1}">
                  <asvg:svgBlip xmlns:asvg="http://schemas.microsoft.com/office/drawing/2016/SVG/main" r:embed="rId4"/>
                </a:ext>
              </a:extLst>
            </a:blip>
            <a:stretch>
              <a:fillRect l="0" t="0" r="-83814" b="0"/>
            </a:stretch>
          </a:blipFill>
        </p:spPr>
      </p:sp>
      <p:sp>
        <p:nvSpPr>
          <p:cNvPr name="Freeform 7" id="7"/>
          <p:cNvSpPr/>
          <p:nvPr/>
        </p:nvSpPr>
        <p:spPr>
          <a:xfrm flipH="false" flipV="false" rot="0">
            <a:off x="17627438" y="1864281"/>
            <a:ext cx="2485094" cy="2363946"/>
          </a:xfrm>
          <a:custGeom>
            <a:avLst/>
            <a:gdLst/>
            <a:ahLst/>
            <a:cxnLst/>
            <a:rect r="r" b="b" t="t" l="l"/>
            <a:pathLst>
              <a:path h="2363946" w="2485094">
                <a:moveTo>
                  <a:pt x="0" y="0"/>
                </a:moveTo>
                <a:lnTo>
                  <a:pt x="2485094" y="0"/>
                </a:lnTo>
                <a:lnTo>
                  <a:pt x="2485094" y="2363946"/>
                </a:lnTo>
                <a:lnTo>
                  <a:pt x="0" y="2363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50478" y="201142"/>
            <a:ext cx="4833015" cy="2612441"/>
          </a:xfrm>
          <a:custGeom>
            <a:avLst/>
            <a:gdLst/>
            <a:ahLst/>
            <a:cxnLst/>
            <a:rect r="r" b="b" t="t" l="l"/>
            <a:pathLst>
              <a:path h="2612441" w="4833015">
                <a:moveTo>
                  <a:pt x="0" y="0"/>
                </a:moveTo>
                <a:lnTo>
                  <a:pt x="4833016" y="0"/>
                </a:lnTo>
                <a:lnTo>
                  <a:pt x="4833016" y="2612441"/>
                </a:lnTo>
                <a:lnTo>
                  <a:pt x="0" y="2612441"/>
                </a:lnTo>
                <a:lnTo>
                  <a:pt x="0" y="0"/>
                </a:lnTo>
                <a:close/>
              </a:path>
            </a:pathLst>
          </a:custGeom>
          <a:blipFill>
            <a:blip r:embed="rId7"/>
            <a:stretch>
              <a:fillRect l="0" t="0" r="0" b="0"/>
            </a:stretch>
          </a:blipFill>
        </p:spPr>
      </p:sp>
      <p:sp>
        <p:nvSpPr>
          <p:cNvPr name="TextBox 9" id="9"/>
          <p:cNvSpPr txBox="true"/>
          <p:nvPr/>
        </p:nvSpPr>
        <p:spPr>
          <a:xfrm rot="0">
            <a:off x="278591" y="3201310"/>
            <a:ext cx="5976756" cy="3979629"/>
          </a:xfrm>
          <a:prstGeom prst="rect">
            <a:avLst/>
          </a:prstGeom>
        </p:spPr>
        <p:txBody>
          <a:bodyPr anchor="t" rtlCol="false" tIns="0" lIns="0" bIns="0" rIns="0">
            <a:spAutoFit/>
          </a:bodyPr>
          <a:lstStyle/>
          <a:p>
            <a:pPr algn="l">
              <a:lnSpc>
                <a:spcPts val="10380"/>
              </a:lnSpc>
            </a:pPr>
            <a:r>
              <a:rPr lang="en-US" sz="9436" b="true">
                <a:solidFill>
                  <a:srgbClr val="101010"/>
                </a:solidFill>
                <a:latin typeface="Open Sauce Bold"/>
                <a:ea typeface="Open Sauce Bold"/>
                <a:cs typeface="Open Sauce Bold"/>
                <a:sym typeface="Open Sauce Bold"/>
              </a:rPr>
              <a:t>BDM Capstone Project</a:t>
            </a:r>
          </a:p>
        </p:txBody>
      </p:sp>
      <p:sp>
        <p:nvSpPr>
          <p:cNvPr name="TextBox 10" id="10"/>
          <p:cNvSpPr txBox="true"/>
          <p:nvPr/>
        </p:nvSpPr>
        <p:spPr>
          <a:xfrm rot="0">
            <a:off x="12470559" y="7793777"/>
            <a:ext cx="5817441" cy="981075"/>
          </a:xfrm>
          <a:prstGeom prst="rect">
            <a:avLst/>
          </a:prstGeom>
        </p:spPr>
        <p:txBody>
          <a:bodyPr anchor="t" rtlCol="false" tIns="0" lIns="0" bIns="0" rIns="0">
            <a:spAutoFit/>
          </a:bodyPr>
          <a:lstStyle/>
          <a:p>
            <a:pPr algn="l">
              <a:lnSpc>
                <a:spcPts val="3839"/>
              </a:lnSpc>
            </a:pPr>
            <a:r>
              <a:rPr lang="en-US" sz="3199" b="true">
                <a:solidFill>
                  <a:srgbClr val="FFFFFF"/>
                </a:solidFill>
                <a:latin typeface="Open Sauce Bold"/>
                <a:ea typeface="Open Sauce Bold"/>
                <a:cs typeface="Open Sauce Bold"/>
                <a:sym typeface="Open Sauce Bold"/>
              </a:rPr>
              <a:t>Presented by : Sai Reshmitha Ponnaganti</a:t>
            </a:r>
          </a:p>
        </p:txBody>
      </p:sp>
      <p:sp>
        <p:nvSpPr>
          <p:cNvPr name="TextBox 11" id="11"/>
          <p:cNvSpPr txBox="true"/>
          <p:nvPr/>
        </p:nvSpPr>
        <p:spPr>
          <a:xfrm rot="0">
            <a:off x="12470559" y="9005887"/>
            <a:ext cx="4289165" cy="495300"/>
          </a:xfrm>
          <a:prstGeom prst="rect">
            <a:avLst/>
          </a:prstGeom>
        </p:spPr>
        <p:txBody>
          <a:bodyPr anchor="t" rtlCol="false" tIns="0" lIns="0" bIns="0" rIns="0">
            <a:spAutoFit/>
          </a:bodyPr>
          <a:lstStyle/>
          <a:p>
            <a:pPr algn="ctr">
              <a:lnSpc>
                <a:spcPts val="3839"/>
              </a:lnSpc>
            </a:pPr>
            <a:r>
              <a:rPr lang="en-US" sz="3199" b="true">
                <a:solidFill>
                  <a:srgbClr val="FFFFFF"/>
                </a:solidFill>
                <a:latin typeface="Open Sauce Bold"/>
                <a:ea typeface="Open Sauce Bold"/>
                <a:cs typeface="Open Sauce Bold"/>
                <a:sym typeface="Open Sauce Bold"/>
              </a:rPr>
              <a:t>Roll No:23F3004280</a:t>
            </a:r>
          </a:p>
        </p:txBody>
      </p:sp>
      <p:sp>
        <p:nvSpPr>
          <p:cNvPr name="TextBox 12" id="12"/>
          <p:cNvSpPr txBox="true"/>
          <p:nvPr/>
        </p:nvSpPr>
        <p:spPr>
          <a:xfrm rot="0">
            <a:off x="5625166" y="592730"/>
            <a:ext cx="12507154" cy="4054702"/>
          </a:xfrm>
          <a:prstGeom prst="rect">
            <a:avLst/>
          </a:prstGeom>
        </p:spPr>
        <p:txBody>
          <a:bodyPr anchor="t" rtlCol="false" tIns="0" lIns="0" bIns="0" rIns="0">
            <a:spAutoFit/>
          </a:bodyPr>
          <a:lstStyle/>
          <a:p>
            <a:pPr algn="l">
              <a:lnSpc>
                <a:spcPts val="7994"/>
              </a:lnSpc>
            </a:pPr>
            <a:r>
              <a:rPr lang="en-US" sz="7267" b="true">
                <a:solidFill>
                  <a:srgbClr val="073699"/>
                </a:solidFill>
                <a:latin typeface="Open Sauce Bold"/>
                <a:ea typeface="Open Sauce Bold"/>
                <a:cs typeface="Open Sauce Bold"/>
                <a:sym typeface="Open Sauce Bold"/>
              </a:rPr>
              <a:t>Ayyapa Best Price Supermarket: Empowering Retail Growth through Data-Driven Insights</a:t>
            </a:r>
          </a:p>
        </p:txBody>
      </p:sp>
      <p:sp>
        <p:nvSpPr>
          <p:cNvPr name="TextBox 13" id="13"/>
          <p:cNvSpPr txBox="true"/>
          <p:nvPr/>
        </p:nvSpPr>
        <p:spPr>
          <a:xfrm rot="0">
            <a:off x="278591" y="7390490"/>
            <a:ext cx="7218561"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Canva Sans Bold"/>
                <a:ea typeface="Canva Sans Bold"/>
                <a:cs typeface="Canva Sans Bold"/>
                <a:sym typeface="Canva Sans Bold"/>
              </a:rPr>
              <a:t>Indian Institiute of Madras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2435824" y="7156450"/>
            <a:ext cx="8255116" cy="8510429"/>
          </a:xfrm>
          <a:custGeom>
            <a:avLst/>
            <a:gdLst/>
            <a:ahLst/>
            <a:cxnLst/>
            <a:rect r="r" b="b" t="t" l="l"/>
            <a:pathLst>
              <a:path h="8510429" w="8255116">
                <a:moveTo>
                  <a:pt x="0" y="0"/>
                </a:moveTo>
                <a:lnTo>
                  <a:pt x="8255116" y="0"/>
                </a:lnTo>
                <a:lnTo>
                  <a:pt x="8255116" y="8510429"/>
                </a:lnTo>
                <a:lnTo>
                  <a:pt x="0" y="85104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716" y="1406048"/>
            <a:ext cx="18044567" cy="8596747"/>
            <a:chOff x="0" y="0"/>
            <a:chExt cx="4752479" cy="2264164"/>
          </a:xfrm>
        </p:grpSpPr>
        <p:sp>
          <p:nvSpPr>
            <p:cNvPr name="Freeform 5" id="5"/>
            <p:cNvSpPr/>
            <p:nvPr/>
          </p:nvSpPr>
          <p:spPr>
            <a:xfrm flipH="false" flipV="false" rot="0">
              <a:off x="0" y="0"/>
              <a:ext cx="4752479" cy="2264164"/>
            </a:xfrm>
            <a:custGeom>
              <a:avLst/>
              <a:gdLst/>
              <a:ahLst/>
              <a:cxnLst/>
              <a:rect r="r" b="b" t="t" l="l"/>
              <a:pathLst>
                <a:path h="2264164" w="4752479">
                  <a:moveTo>
                    <a:pt x="12013" y="0"/>
                  </a:moveTo>
                  <a:lnTo>
                    <a:pt x="4740465" y="0"/>
                  </a:lnTo>
                  <a:cubicBezTo>
                    <a:pt x="4747100" y="0"/>
                    <a:pt x="4752479" y="5379"/>
                    <a:pt x="4752479" y="12013"/>
                  </a:cubicBezTo>
                  <a:lnTo>
                    <a:pt x="4752479" y="2252151"/>
                  </a:lnTo>
                  <a:cubicBezTo>
                    <a:pt x="4752479" y="2255337"/>
                    <a:pt x="4751213" y="2258392"/>
                    <a:pt x="4748960" y="2260645"/>
                  </a:cubicBezTo>
                  <a:cubicBezTo>
                    <a:pt x="4746707" y="2262898"/>
                    <a:pt x="4743652" y="2264164"/>
                    <a:pt x="4740465" y="2264164"/>
                  </a:cubicBezTo>
                  <a:lnTo>
                    <a:pt x="12013" y="2264164"/>
                  </a:lnTo>
                  <a:cubicBezTo>
                    <a:pt x="8827" y="2264164"/>
                    <a:pt x="5772" y="2262898"/>
                    <a:pt x="3519" y="2260645"/>
                  </a:cubicBezTo>
                  <a:cubicBezTo>
                    <a:pt x="1266" y="2258392"/>
                    <a:pt x="0" y="2255337"/>
                    <a:pt x="0" y="2252151"/>
                  </a:cubicBezTo>
                  <a:lnTo>
                    <a:pt x="0" y="12013"/>
                  </a:lnTo>
                  <a:cubicBezTo>
                    <a:pt x="0" y="8827"/>
                    <a:pt x="1266" y="5772"/>
                    <a:pt x="3519" y="3519"/>
                  </a:cubicBezTo>
                  <a:cubicBezTo>
                    <a:pt x="5772" y="1266"/>
                    <a:pt x="8827" y="0"/>
                    <a:pt x="12013" y="0"/>
                  </a:cubicBezTo>
                  <a:close/>
                </a:path>
              </a:pathLst>
            </a:custGeom>
            <a:solidFill>
              <a:srgbClr val="073699"/>
            </a:solidFill>
          </p:spPr>
        </p:sp>
        <p:sp>
          <p:nvSpPr>
            <p:cNvPr name="TextBox 6" id="6"/>
            <p:cNvSpPr txBox="true"/>
            <p:nvPr/>
          </p:nvSpPr>
          <p:spPr>
            <a:xfrm>
              <a:off x="0" y="0"/>
              <a:ext cx="4752479" cy="2264164"/>
            </a:xfrm>
            <a:prstGeom prst="rect">
              <a:avLst/>
            </a:prstGeom>
          </p:spPr>
          <p:txBody>
            <a:bodyPr anchor="ctr" rtlCol="false" tIns="50800" lIns="50800" bIns="50800" rIns="50800"/>
            <a:lstStyle/>
            <a:p>
              <a:pPr algn="ctr">
                <a:lnSpc>
                  <a:spcPts val="2879"/>
                </a:lnSpc>
              </a:pPr>
            </a:p>
          </p:txBody>
        </p:sp>
      </p:grpSp>
      <p:sp>
        <p:nvSpPr>
          <p:cNvPr name="Freeform 7" id="7"/>
          <p:cNvSpPr/>
          <p:nvPr/>
        </p:nvSpPr>
        <p:spPr>
          <a:xfrm flipH="false" flipV="false" rot="-5400000">
            <a:off x="-2773928" y="-3543592"/>
            <a:ext cx="5547856" cy="5013875"/>
          </a:xfrm>
          <a:custGeom>
            <a:avLst/>
            <a:gdLst/>
            <a:ahLst/>
            <a:cxnLst/>
            <a:rect r="r" b="b" t="t" l="l"/>
            <a:pathLst>
              <a:path h="5013875" w="5547856">
                <a:moveTo>
                  <a:pt x="0" y="0"/>
                </a:moveTo>
                <a:lnTo>
                  <a:pt x="5547856" y="0"/>
                </a:lnTo>
                <a:lnTo>
                  <a:pt x="5547856" y="5013875"/>
                </a:lnTo>
                <a:lnTo>
                  <a:pt x="0" y="50138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296335" y="2178367"/>
            <a:ext cx="534093" cy="641085"/>
          </a:xfrm>
          <a:custGeom>
            <a:avLst/>
            <a:gdLst/>
            <a:ahLst/>
            <a:cxnLst/>
            <a:rect r="r" b="b" t="t" l="l"/>
            <a:pathLst>
              <a:path h="641085" w="534093">
                <a:moveTo>
                  <a:pt x="0" y="0"/>
                </a:moveTo>
                <a:lnTo>
                  <a:pt x="534094" y="0"/>
                </a:lnTo>
                <a:lnTo>
                  <a:pt x="534094" y="641085"/>
                </a:lnTo>
                <a:lnTo>
                  <a:pt x="0" y="641085"/>
                </a:lnTo>
                <a:lnTo>
                  <a:pt x="0" y="0"/>
                </a:lnTo>
                <a:close/>
              </a:path>
            </a:pathLst>
          </a:custGeom>
          <a:blipFill>
            <a:blip r:embed="rId7">
              <a:extLst>
                <a:ext uri="{96DAC541-7B7A-43D3-8B79-37D633B846F1}">
                  <asvg:svgBlip xmlns:asvg="http://schemas.microsoft.com/office/drawing/2016/SVG/main" r:embed="rId8"/>
                </a:ext>
              </a:extLst>
            </a:blip>
            <a:stretch>
              <a:fillRect l="0" t="0" r="-125534" b="-87895"/>
            </a:stretch>
          </a:blipFill>
        </p:spPr>
      </p:sp>
      <p:sp>
        <p:nvSpPr>
          <p:cNvPr name="Freeform 9" id="9"/>
          <p:cNvSpPr/>
          <p:nvPr/>
        </p:nvSpPr>
        <p:spPr>
          <a:xfrm flipH="false" flipV="false" rot="0">
            <a:off x="12709065" y="2562159"/>
            <a:ext cx="6678309" cy="3748201"/>
          </a:xfrm>
          <a:custGeom>
            <a:avLst/>
            <a:gdLst/>
            <a:ahLst/>
            <a:cxnLst/>
            <a:rect r="r" b="b" t="t" l="l"/>
            <a:pathLst>
              <a:path h="3748201" w="6678309">
                <a:moveTo>
                  <a:pt x="0" y="0"/>
                </a:moveTo>
                <a:lnTo>
                  <a:pt x="6678309" y="0"/>
                </a:lnTo>
                <a:lnTo>
                  <a:pt x="6678309" y="3748201"/>
                </a:lnTo>
                <a:lnTo>
                  <a:pt x="0" y="3748201"/>
                </a:lnTo>
                <a:lnTo>
                  <a:pt x="0" y="0"/>
                </a:lnTo>
                <a:close/>
              </a:path>
            </a:pathLst>
          </a:custGeom>
          <a:blipFill>
            <a:blip r:embed="rId9"/>
            <a:stretch>
              <a:fillRect l="0" t="0" r="0" b="0"/>
            </a:stretch>
          </a:blipFill>
        </p:spPr>
      </p:sp>
      <p:sp>
        <p:nvSpPr>
          <p:cNvPr name="TextBox 10" id="10"/>
          <p:cNvSpPr txBox="true"/>
          <p:nvPr/>
        </p:nvSpPr>
        <p:spPr>
          <a:xfrm rot="0">
            <a:off x="2435824" y="66675"/>
            <a:ext cx="13939986" cy="1149350"/>
          </a:xfrm>
          <a:prstGeom prst="rect">
            <a:avLst/>
          </a:prstGeom>
        </p:spPr>
        <p:txBody>
          <a:bodyPr anchor="t" rtlCol="false" tIns="0" lIns="0" bIns="0" rIns="0">
            <a:spAutoFit/>
          </a:bodyPr>
          <a:lstStyle/>
          <a:p>
            <a:pPr algn="ctr">
              <a:lnSpc>
                <a:spcPts val="8800"/>
              </a:lnSpc>
            </a:pPr>
            <a:r>
              <a:rPr lang="en-US" sz="8000" b="true">
                <a:solidFill>
                  <a:srgbClr val="101010"/>
                </a:solidFill>
                <a:latin typeface="Open Sauce Bold"/>
                <a:ea typeface="Open Sauce Bold"/>
                <a:cs typeface="Open Sauce Bold"/>
                <a:sym typeface="Open Sauce Bold"/>
              </a:rPr>
              <a:t>Overview</a:t>
            </a:r>
          </a:p>
        </p:txBody>
      </p:sp>
      <p:sp>
        <p:nvSpPr>
          <p:cNvPr name="TextBox 11" id="11"/>
          <p:cNvSpPr txBox="true"/>
          <p:nvPr/>
        </p:nvSpPr>
        <p:spPr>
          <a:xfrm rot="0">
            <a:off x="531364" y="1480402"/>
            <a:ext cx="11915945" cy="8381365"/>
          </a:xfrm>
          <a:prstGeom prst="rect">
            <a:avLst/>
          </a:prstGeom>
        </p:spPr>
        <p:txBody>
          <a:bodyPr anchor="t" rtlCol="false" tIns="0" lIns="0" bIns="0" rIns="0">
            <a:spAutoFit/>
          </a:bodyPr>
          <a:lstStyle/>
          <a:p>
            <a:pPr algn="just">
              <a:lnSpc>
                <a:spcPts val="4759"/>
              </a:lnSpc>
            </a:pPr>
            <a:r>
              <a:rPr lang="en-US" sz="3399">
                <a:solidFill>
                  <a:srgbClr val="FFFFFF"/>
                </a:solidFill>
                <a:latin typeface="Canva Sans"/>
                <a:ea typeface="Canva Sans"/>
                <a:cs typeface="Canva Sans"/>
                <a:sym typeface="Canva Sans"/>
              </a:rPr>
              <a:t>Ayyapa Best Price Supermarket, established on February 23rd, 2020, is a retail store committed to providing customers with quality products at competitive prices. The supermarket operates on a value-driven model, offering a standard 5% discount on MRP across essential categories such as groceries, household items, personal care, and medicines. Since its launch, the store has steadily built customer trust through affordability, reliable service, and consistent product availability. With growing footfall and expanding product lines, Ayyapa Best Price Supermarket aims to strengthen its market presence by adopting data-driven decision-making to optimize inventory, enhance customer satisfaction, and improve overall business efficiency.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15930684" y="7232922"/>
            <a:ext cx="6360639" cy="6002853"/>
          </a:xfrm>
          <a:custGeom>
            <a:avLst/>
            <a:gdLst/>
            <a:ahLst/>
            <a:cxnLst/>
            <a:rect r="r" b="b" t="t" l="l"/>
            <a:pathLst>
              <a:path h="6002853" w="6360639">
                <a:moveTo>
                  <a:pt x="0" y="0"/>
                </a:moveTo>
                <a:lnTo>
                  <a:pt x="6360639" y="0"/>
                </a:lnTo>
                <a:lnTo>
                  <a:pt x="6360639" y="6002853"/>
                </a:lnTo>
                <a:lnTo>
                  <a:pt x="0" y="6002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933587" y="487362"/>
            <a:ext cx="10420826" cy="1149350"/>
          </a:xfrm>
          <a:prstGeom prst="rect">
            <a:avLst/>
          </a:prstGeom>
        </p:spPr>
        <p:txBody>
          <a:bodyPr anchor="t" rtlCol="false" tIns="0" lIns="0" bIns="0" rIns="0">
            <a:spAutoFit/>
          </a:bodyPr>
          <a:lstStyle/>
          <a:p>
            <a:pPr algn="l">
              <a:lnSpc>
                <a:spcPts val="8800"/>
              </a:lnSpc>
            </a:pPr>
            <a:r>
              <a:rPr lang="en-US" sz="8000" b="true">
                <a:solidFill>
                  <a:srgbClr val="101010"/>
                </a:solidFill>
                <a:latin typeface="Open Sauce Bold"/>
                <a:ea typeface="Open Sauce Bold"/>
                <a:cs typeface="Open Sauce Bold"/>
                <a:sym typeface="Open Sauce Bold"/>
              </a:rPr>
              <a:t>Problem Statement</a:t>
            </a:r>
          </a:p>
        </p:txBody>
      </p:sp>
      <p:grpSp>
        <p:nvGrpSpPr>
          <p:cNvPr name="Group 5" id="5"/>
          <p:cNvGrpSpPr/>
          <p:nvPr/>
        </p:nvGrpSpPr>
        <p:grpSpPr>
          <a:xfrm rot="0">
            <a:off x="121716" y="1636713"/>
            <a:ext cx="18044567" cy="8366083"/>
            <a:chOff x="0" y="0"/>
            <a:chExt cx="4752479" cy="2203413"/>
          </a:xfrm>
        </p:grpSpPr>
        <p:sp>
          <p:nvSpPr>
            <p:cNvPr name="Freeform 6" id="6"/>
            <p:cNvSpPr/>
            <p:nvPr/>
          </p:nvSpPr>
          <p:spPr>
            <a:xfrm flipH="false" flipV="false" rot="0">
              <a:off x="0" y="0"/>
              <a:ext cx="4752479" cy="2203413"/>
            </a:xfrm>
            <a:custGeom>
              <a:avLst/>
              <a:gdLst/>
              <a:ahLst/>
              <a:cxnLst/>
              <a:rect r="r" b="b" t="t" l="l"/>
              <a:pathLst>
                <a:path h="2203413" w="4752479">
                  <a:moveTo>
                    <a:pt x="12013" y="0"/>
                  </a:moveTo>
                  <a:lnTo>
                    <a:pt x="4740465" y="0"/>
                  </a:lnTo>
                  <a:cubicBezTo>
                    <a:pt x="4747100" y="0"/>
                    <a:pt x="4752479" y="5379"/>
                    <a:pt x="4752479" y="12013"/>
                  </a:cubicBezTo>
                  <a:lnTo>
                    <a:pt x="4752479" y="2191399"/>
                  </a:lnTo>
                  <a:cubicBezTo>
                    <a:pt x="4752479" y="2194585"/>
                    <a:pt x="4751213" y="2197641"/>
                    <a:pt x="4748960" y="2199894"/>
                  </a:cubicBezTo>
                  <a:cubicBezTo>
                    <a:pt x="4746707" y="2202147"/>
                    <a:pt x="4743652" y="2203413"/>
                    <a:pt x="4740465" y="2203413"/>
                  </a:cubicBezTo>
                  <a:lnTo>
                    <a:pt x="12013" y="2203413"/>
                  </a:lnTo>
                  <a:cubicBezTo>
                    <a:pt x="8827" y="2203413"/>
                    <a:pt x="5772" y="2202147"/>
                    <a:pt x="3519" y="2199894"/>
                  </a:cubicBezTo>
                  <a:cubicBezTo>
                    <a:pt x="1266" y="2197641"/>
                    <a:pt x="0" y="2194585"/>
                    <a:pt x="0" y="2191399"/>
                  </a:cubicBezTo>
                  <a:lnTo>
                    <a:pt x="0" y="12013"/>
                  </a:lnTo>
                  <a:cubicBezTo>
                    <a:pt x="0" y="8827"/>
                    <a:pt x="1266" y="5772"/>
                    <a:pt x="3519" y="3519"/>
                  </a:cubicBezTo>
                  <a:cubicBezTo>
                    <a:pt x="5772" y="1266"/>
                    <a:pt x="8827" y="0"/>
                    <a:pt x="12013" y="0"/>
                  </a:cubicBezTo>
                  <a:close/>
                </a:path>
              </a:pathLst>
            </a:custGeom>
            <a:solidFill>
              <a:srgbClr val="073699"/>
            </a:solidFill>
          </p:spPr>
        </p:sp>
        <p:sp>
          <p:nvSpPr>
            <p:cNvPr name="TextBox 7" id="7"/>
            <p:cNvSpPr txBox="true"/>
            <p:nvPr/>
          </p:nvSpPr>
          <p:spPr>
            <a:xfrm>
              <a:off x="0" y="0"/>
              <a:ext cx="4752479" cy="2203413"/>
            </a:xfrm>
            <a:prstGeom prst="rect">
              <a:avLst/>
            </a:prstGeom>
          </p:spPr>
          <p:txBody>
            <a:bodyPr anchor="ctr" rtlCol="false" tIns="50800" lIns="50800" bIns="50800" rIns="50800"/>
            <a:lstStyle/>
            <a:p>
              <a:pPr algn="ctr">
                <a:lnSpc>
                  <a:spcPts val="2879"/>
                </a:lnSpc>
              </a:pPr>
            </a:p>
          </p:txBody>
        </p:sp>
      </p:grpSp>
      <p:sp>
        <p:nvSpPr>
          <p:cNvPr name="TextBox 8" id="8"/>
          <p:cNvSpPr txBox="true"/>
          <p:nvPr/>
        </p:nvSpPr>
        <p:spPr>
          <a:xfrm rot="0">
            <a:off x="780032" y="2344195"/>
            <a:ext cx="16761088" cy="6994989"/>
          </a:xfrm>
          <a:prstGeom prst="rect">
            <a:avLst/>
          </a:prstGeom>
        </p:spPr>
        <p:txBody>
          <a:bodyPr anchor="t" rtlCol="false" tIns="0" lIns="0" bIns="0" rIns="0">
            <a:spAutoFit/>
          </a:bodyPr>
          <a:lstStyle/>
          <a:p>
            <a:pPr algn="just">
              <a:lnSpc>
                <a:spcPts val="5049"/>
              </a:lnSpc>
            </a:pPr>
            <a:r>
              <a:rPr lang="en-US" sz="3606">
                <a:solidFill>
                  <a:srgbClr val="FFFFFF"/>
                </a:solidFill>
                <a:latin typeface="Canva Sans"/>
                <a:ea typeface="Canva Sans"/>
                <a:cs typeface="Canva Sans"/>
                <a:sym typeface="Canva Sans"/>
              </a:rPr>
              <a:t>Despite offering competitive pricing and a consistent 5% discount on MRPs, Ayyapa Best Price Supermarket faces challenges in optimizing inventory, understanding customer purchasing patterns, and managing seasonal demand fluctuations. Limited data-driven decision-making has led to occasional stockouts, overstocking in slow-moving categories, and reduced profitability. To sustain growth and improve operational efficiency, the supermarket requires a comprehensive data analysis approach to identify sales trends, forecast demand, streamline inventory, and enhance customer satisfaction. The goal is to leverage data insights to support informed, strategic decisions that drive retail performance and long-term business sustainability.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15930684" y="7232922"/>
            <a:ext cx="6360639" cy="6002853"/>
          </a:xfrm>
          <a:custGeom>
            <a:avLst/>
            <a:gdLst/>
            <a:ahLst/>
            <a:cxnLst/>
            <a:rect r="r" b="b" t="t" l="l"/>
            <a:pathLst>
              <a:path h="6002853" w="6360639">
                <a:moveTo>
                  <a:pt x="0" y="0"/>
                </a:moveTo>
                <a:lnTo>
                  <a:pt x="6360639" y="0"/>
                </a:lnTo>
                <a:lnTo>
                  <a:pt x="6360639" y="6002853"/>
                </a:lnTo>
                <a:lnTo>
                  <a:pt x="0" y="6002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933587" y="487362"/>
            <a:ext cx="10420826" cy="1149350"/>
          </a:xfrm>
          <a:prstGeom prst="rect">
            <a:avLst/>
          </a:prstGeom>
        </p:spPr>
        <p:txBody>
          <a:bodyPr anchor="t" rtlCol="false" tIns="0" lIns="0" bIns="0" rIns="0">
            <a:spAutoFit/>
          </a:bodyPr>
          <a:lstStyle/>
          <a:p>
            <a:pPr algn="ctr">
              <a:lnSpc>
                <a:spcPts val="8800"/>
              </a:lnSpc>
            </a:pPr>
            <a:r>
              <a:rPr lang="en-US" sz="8000" b="true">
                <a:solidFill>
                  <a:srgbClr val="101010"/>
                </a:solidFill>
                <a:latin typeface="Open Sauce Bold"/>
                <a:ea typeface="Open Sauce Bold"/>
                <a:cs typeface="Open Sauce Bold"/>
                <a:sym typeface="Open Sauce Bold"/>
              </a:rPr>
              <a:t>Dataset Used</a:t>
            </a:r>
          </a:p>
        </p:txBody>
      </p:sp>
      <p:grpSp>
        <p:nvGrpSpPr>
          <p:cNvPr name="Group 5" id="5"/>
          <p:cNvGrpSpPr/>
          <p:nvPr/>
        </p:nvGrpSpPr>
        <p:grpSpPr>
          <a:xfrm rot="0">
            <a:off x="121716" y="1636713"/>
            <a:ext cx="18044567" cy="8366083"/>
            <a:chOff x="0" y="0"/>
            <a:chExt cx="4752479" cy="2203413"/>
          </a:xfrm>
        </p:grpSpPr>
        <p:sp>
          <p:nvSpPr>
            <p:cNvPr name="Freeform 6" id="6"/>
            <p:cNvSpPr/>
            <p:nvPr/>
          </p:nvSpPr>
          <p:spPr>
            <a:xfrm flipH="false" flipV="false" rot="0">
              <a:off x="0" y="0"/>
              <a:ext cx="4752479" cy="2203413"/>
            </a:xfrm>
            <a:custGeom>
              <a:avLst/>
              <a:gdLst/>
              <a:ahLst/>
              <a:cxnLst/>
              <a:rect r="r" b="b" t="t" l="l"/>
              <a:pathLst>
                <a:path h="2203413" w="4752479">
                  <a:moveTo>
                    <a:pt x="12013" y="0"/>
                  </a:moveTo>
                  <a:lnTo>
                    <a:pt x="4740465" y="0"/>
                  </a:lnTo>
                  <a:cubicBezTo>
                    <a:pt x="4747100" y="0"/>
                    <a:pt x="4752479" y="5379"/>
                    <a:pt x="4752479" y="12013"/>
                  </a:cubicBezTo>
                  <a:lnTo>
                    <a:pt x="4752479" y="2191399"/>
                  </a:lnTo>
                  <a:cubicBezTo>
                    <a:pt x="4752479" y="2194585"/>
                    <a:pt x="4751213" y="2197641"/>
                    <a:pt x="4748960" y="2199894"/>
                  </a:cubicBezTo>
                  <a:cubicBezTo>
                    <a:pt x="4746707" y="2202147"/>
                    <a:pt x="4743652" y="2203413"/>
                    <a:pt x="4740465" y="2203413"/>
                  </a:cubicBezTo>
                  <a:lnTo>
                    <a:pt x="12013" y="2203413"/>
                  </a:lnTo>
                  <a:cubicBezTo>
                    <a:pt x="8827" y="2203413"/>
                    <a:pt x="5772" y="2202147"/>
                    <a:pt x="3519" y="2199894"/>
                  </a:cubicBezTo>
                  <a:cubicBezTo>
                    <a:pt x="1266" y="2197641"/>
                    <a:pt x="0" y="2194585"/>
                    <a:pt x="0" y="2191399"/>
                  </a:cubicBezTo>
                  <a:lnTo>
                    <a:pt x="0" y="12013"/>
                  </a:lnTo>
                  <a:cubicBezTo>
                    <a:pt x="0" y="8827"/>
                    <a:pt x="1266" y="5772"/>
                    <a:pt x="3519" y="3519"/>
                  </a:cubicBezTo>
                  <a:cubicBezTo>
                    <a:pt x="5772" y="1266"/>
                    <a:pt x="8827" y="0"/>
                    <a:pt x="12013" y="0"/>
                  </a:cubicBezTo>
                  <a:close/>
                </a:path>
              </a:pathLst>
            </a:custGeom>
            <a:solidFill>
              <a:srgbClr val="073699"/>
            </a:solidFill>
          </p:spPr>
        </p:sp>
        <p:sp>
          <p:nvSpPr>
            <p:cNvPr name="TextBox 7" id="7"/>
            <p:cNvSpPr txBox="true"/>
            <p:nvPr/>
          </p:nvSpPr>
          <p:spPr>
            <a:xfrm>
              <a:off x="0" y="0"/>
              <a:ext cx="4752479" cy="2203413"/>
            </a:xfrm>
            <a:prstGeom prst="rect">
              <a:avLst/>
            </a:prstGeom>
          </p:spPr>
          <p:txBody>
            <a:bodyPr anchor="ctr" rtlCol="false" tIns="50800" lIns="50800" bIns="50800" rIns="50800"/>
            <a:lstStyle/>
            <a:p>
              <a:pPr algn="ctr">
                <a:lnSpc>
                  <a:spcPts val="2879"/>
                </a:lnSpc>
              </a:pPr>
            </a:p>
          </p:txBody>
        </p:sp>
      </p:grpSp>
      <p:sp>
        <p:nvSpPr>
          <p:cNvPr name="TextBox 8" id="8"/>
          <p:cNvSpPr txBox="true"/>
          <p:nvPr/>
        </p:nvSpPr>
        <p:spPr>
          <a:xfrm rot="0">
            <a:off x="780032" y="2344195"/>
            <a:ext cx="16761088" cy="7633164"/>
          </a:xfrm>
          <a:prstGeom prst="rect">
            <a:avLst/>
          </a:prstGeom>
        </p:spPr>
        <p:txBody>
          <a:bodyPr anchor="t" rtlCol="false" tIns="0" lIns="0" bIns="0" rIns="0">
            <a:spAutoFit/>
          </a:bodyPr>
          <a:lstStyle/>
          <a:p>
            <a:pPr algn="just">
              <a:lnSpc>
                <a:spcPts val="5049"/>
              </a:lnSpc>
            </a:pPr>
            <a:r>
              <a:rPr lang="en-US" sz="3606">
                <a:solidFill>
                  <a:srgbClr val="FFFFFF"/>
                </a:solidFill>
                <a:latin typeface="Canva Sans"/>
                <a:ea typeface="Canva Sans"/>
                <a:cs typeface="Canva Sans"/>
                <a:sym typeface="Canva Sans"/>
              </a:rPr>
              <a:t>The dataset includes transaction records collected at the supermarket, containing fields such as:</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Date of Purchase</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Product Category (Staples, Beverages, Personal Care, Dairy, etc.)</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Product Name</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Quantity Purchased</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Price per Unit</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Total Price</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Customer/Flat Number </a:t>
            </a:r>
          </a:p>
          <a:p>
            <a:pPr algn="just">
              <a:lnSpc>
                <a:spcPts val="5049"/>
              </a:lnSpc>
            </a:pPr>
            <a:r>
              <a:rPr lang="en-US" sz="3606">
                <a:solidFill>
                  <a:srgbClr val="FFFFFF"/>
                </a:solidFill>
                <a:latin typeface="Canva Sans"/>
                <a:ea typeface="Canva Sans"/>
                <a:cs typeface="Canva Sans"/>
                <a:sym typeface="Canva Sans"/>
              </a:rPr>
              <a:t>This data reflects real sales patterns, enabling analysis of customer behavior, top-selling items, seasonal demand, and revenue trends.</a:t>
            </a:r>
          </a:p>
          <a:p>
            <a:pPr algn="just">
              <a:lnSpc>
                <a:spcPts val="5049"/>
              </a:lnSpc>
            </a:pPr>
          </a:p>
        </p:txBody>
      </p:sp>
      <p:sp>
        <p:nvSpPr>
          <p:cNvPr name="TextBox 9" id="9"/>
          <p:cNvSpPr txBox="true"/>
          <p:nvPr/>
        </p:nvSpPr>
        <p:spPr>
          <a:xfrm rot="0">
            <a:off x="3933587" y="1636713"/>
            <a:ext cx="10420826" cy="361950"/>
          </a:xfrm>
          <a:prstGeom prst="rect">
            <a:avLst/>
          </a:prstGeom>
        </p:spPr>
        <p:txBody>
          <a:bodyPr anchor="t" rtlCol="false" tIns="0" lIns="0" bIns="0" rIns="0">
            <a:spAutoFit/>
          </a:bodyPr>
          <a:lstStyle/>
          <a:p>
            <a:pPr algn="ctr">
              <a:lnSpc>
                <a:spcPts val="2879"/>
              </a:lnSpc>
              <a:spcBef>
                <a:spcPct val="0"/>
              </a:spcBef>
            </a:pPr>
            <a:r>
              <a:rPr lang="en-US" sz="2400">
                <a:solidFill>
                  <a:srgbClr val="FFFFFF"/>
                </a:solidFill>
                <a:latin typeface="Open Sauce"/>
                <a:ea typeface="Open Sauce"/>
                <a:cs typeface="Open Sauce"/>
                <a:sym typeface="Open Sauce"/>
              </a:rPr>
              <a: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15930684" y="7232922"/>
            <a:ext cx="6360639" cy="6002853"/>
          </a:xfrm>
          <a:custGeom>
            <a:avLst/>
            <a:gdLst/>
            <a:ahLst/>
            <a:cxnLst/>
            <a:rect r="r" b="b" t="t" l="l"/>
            <a:pathLst>
              <a:path h="6002853" w="6360639">
                <a:moveTo>
                  <a:pt x="0" y="0"/>
                </a:moveTo>
                <a:lnTo>
                  <a:pt x="6360639" y="0"/>
                </a:lnTo>
                <a:lnTo>
                  <a:pt x="6360639" y="6002853"/>
                </a:lnTo>
                <a:lnTo>
                  <a:pt x="0" y="6002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933587" y="487362"/>
            <a:ext cx="10420826" cy="1149350"/>
          </a:xfrm>
          <a:prstGeom prst="rect">
            <a:avLst/>
          </a:prstGeom>
        </p:spPr>
        <p:txBody>
          <a:bodyPr anchor="t" rtlCol="false" tIns="0" lIns="0" bIns="0" rIns="0">
            <a:spAutoFit/>
          </a:bodyPr>
          <a:lstStyle/>
          <a:p>
            <a:pPr algn="ctr">
              <a:lnSpc>
                <a:spcPts val="8800"/>
              </a:lnSpc>
            </a:pPr>
            <a:r>
              <a:rPr lang="en-US" sz="8000" b="true">
                <a:solidFill>
                  <a:srgbClr val="101010"/>
                </a:solidFill>
                <a:latin typeface="Open Sauce Bold"/>
                <a:ea typeface="Open Sauce Bold"/>
                <a:cs typeface="Open Sauce Bold"/>
                <a:sym typeface="Open Sauce Bold"/>
              </a:rPr>
              <a:t>Methodology</a:t>
            </a:r>
          </a:p>
        </p:txBody>
      </p:sp>
      <p:grpSp>
        <p:nvGrpSpPr>
          <p:cNvPr name="Group 5" id="5"/>
          <p:cNvGrpSpPr/>
          <p:nvPr/>
        </p:nvGrpSpPr>
        <p:grpSpPr>
          <a:xfrm rot="0">
            <a:off x="121716" y="1636713"/>
            <a:ext cx="18044567" cy="8366083"/>
            <a:chOff x="0" y="0"/>
            <a:chExt cx="4752479" cy="2203413"/>
          </a:xfrm>
        </p:grpSpPr>
        <p:sp>
          <p:nvSpPr>
            <p:cNvPr name="Freeform 6" id="6"/>
            <p:cNvSpPr/>
            <p:nvPr/>
          </p:nvSpPr>
          <p:spPr>
            <a:xfrm flipH="false" flipV="false" rot="0">
              <a:off x="0" y="0"/>
              <a:ext cx="4752479" cy="2203413"/>
            </a:xfrm>
            <a:custGeom>
              <a:avLst/>
              <a:gdLst/>
              <a:ahLst/>
              <a:cxnLst/>
              <a:rect r="r" b="b" t="t" l="l"/>
              <a:pathLst>
                <a:path h="2203413" w="4752479">
                  <a:moveTo>
                    <a:pt x="12013" y="0"/>
                  </a:moveTo>
                  <a:lnTo>
                    <a:pt x="4740465" y="0"/>
                  </a:lnTo>
                  <a:cubicBezTo>
                    <a:pt x="4747100" y="0"/>
                    <a:pt x="4752479" y="5379"/>
                    <a:pt x="4752479" y="12013"/>
                  </a:cubicBezTo>
                  <a:lnTo>
                    <a:pt x="4752479" y="2191399"/>
                  </a:lnTo>
                  <a:cubicBezTo>
                    <a:pt x="4752479" y="2194585"/>
                    <a:pt x="4751213" y="2197641"/>
                    <a:pt x="4748960" y="2199894"/>
                  </a:cubicBezTo>
                  <a:cubicBezTo>
                    <a:pt x="4746707" y="2202147"/>
                    <a:pt x="4743652" y="2203413"/>
                    <a:pt x="4740465" y="2203413"/>
                  </a:cubicBezTo>
                  <a:lnTo>
                    <a:pt x="12013" y="2203413"/>
                  </a:lnTo>
                  <a:cubicBezTo>
                    <a:pt x="8827" y="2203413"/>
                    <a:pt x="5772" y="2202147"/>
                    <a:pt x="3519" y="2199894"/>
                  </a:cubicBezTo>
                  <a:cubicBezTo>
                    <a:pt x="1266" y="2197641"/>
                    <a:pt x="0" y="2194585"/>
                    <a:pt x="0" y="2191399"/>
                  </a:cubicBezTo>
                  <a:lnTo>
                    <a:pt x="0" y="12013"/>
                  </a:lnTo>
                  <a:cubicBezTo>
                    <a:pt x="0" y="8827"/>
                    <a:pt x="1266" y="5772"/>
                    <a:pt x="3519" y="3519"/>
                  </a:cubicBezTo>
                  <a:cubicBezTo>
                    <a:pt x="5772" y="1266"/>
                    <a:pt x="8827" y="0"/>
                    <a:pt x="12013" y="0"/>
                  </a:cubicBezTo>
                  <a:close/>
                </a:path>
              </a:pathLst>
            </a:custGeom>
            <a:solidFill>
              <a:srgbClr val="073699"/>
            </a:solidFill>
          </p:spPr>
        </p:sp>
        <p:sp>
          <p:nvSpPr>
            <p:cNvPr name="TextBox 7" id="7"/>
            <p:cNvSpPr txBox="true"/>
            <p:nvPr/>
          </p:nvSpPr>
          <p:spPr>
            <a:xfrm>
              <a:off x="0" y="0"/>
              <a:ext cx="4752479" cy="2203413"/>
            </a:xfrm>
            <a:prstGeom prst="rect">
              <a:avLst/>
            </a:prstGeom>
          </p:spPr>
          <p:txBody>
            <a:bodyPr anchor="ctr" rtlCol="false" tIns="50800" lIns="50800" bIns="50800" rIns="50800"/>
            <a:lstStyle/>
            <a:p>
              <a:pPr algn="ctr">
                <a:lnSpc>
                  <a:spcPts val="2879"/>
                </a:lnSpc>
              </a:pPr>
            </a:p>
          </p:txBody>
        </p:sp>
      </p:grpSp>
      <p:sp>
        <p:nvSpPr>
          <p:cNvPr name="TextBox 8" id="8"/>
          <p:cNvSpPr txBox="true"/>
          <p:nvPr/>
        </p:nvSpPr>
        <p:spPr>
          <a:xfrm rot="0">
            <a:off x="498212" y="1349524"/>
            <a:ext cx="16761088" cy="8271339"/>
          </a:xfrm>
          <a:prstGeom prst="rect">
            <a:avLst/>
          </a:prstGeom>
        </p:spPr>
        <p:txBody>
          <a:bodyPr anchor="t" rtlCol="false" tIns="0" lIns="0" bIns="0" rIns="0">
            <a:spAutoFit/>
          </a:bodyPr>
          <a:lstStyle/>
          <a:p>
            <a:pPr algn="just">
              <a:lnSpc>
                <a:spcPts val="5049"/>
              </a:lnSpc>
            </a:pP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Collect and organize sales data from supermarket transactions.</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Clean the data by removing errors, duplicates, and missing values.</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Convert dates, quantities, and prices into proper analytical formats.</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Perform exploratory data analysis (EDA) to identify sales trends and patterns.</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Analyze product-wise and category-wise performance.</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Visualize monthly, seasonal, and customer purchase trends using charts.</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Interpret insights to understand demand fluctuations and inventory gaps.</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Provide data-driven recommendations for improving stock management and sales.</a:t>
            </a:r>
          </a:p>
          <a:p>
            <a:pPr algn="just">
              <a:lnSpc>
                <a:spcPts val="504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15930684" y="7232922"/>
            <a:ext cx="6360639" cy="6002853"/>
          </a:xfrm>
          <a:custGeom>
            <a:avLst/>
            <a:gdLst/>
            <a:ahLst/>
            <a:cxnLst/>
            <a:rect r="r" b="b" t="t" l="l"/>
            <a:pathLst>
              <a:path h="6002853" w="6360639">
                <a:moveTo>
                  <a:pt x="0" y="0"/>
                </a:moveTo>
                <a:lnTo>
                  <a:pt x="6360639" y="0"/>
                </a:lnTo>
                <a:lnTo>
                  <a:pt x="6360639" y="6002853"/>
                </a:lnTo>
                <a:lnTo>
                  <a:pt x="0" y="6002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1416199"/>
            <a:ext cx="18463376" cy="8496960"/>
            <a:chOff x="0" y="0"/>
            <a:chExt cx="4862782" cy="2237883"/>
          </a:xfrm>
        </p:grpSpPr>
        <p:sp>
          <p:nvSpPr>
            <p:cNvPr name="Freeform 5" id="5"/>
            <p:cNvSpPr/>
            <p:nvPr/>
          </p:nvSpPr>
          <p:spPr>
            <a:xfrm flipH="false" flipV="false" rot="0">
              <a:off x="0" y="0"/>
              <a:ext cx="4862782" cy="2237883"/>
            </a:xfrm>
            <a:custGeom>
              <a:avLst/>
              <a:gdLst/>
              <a:ahLst/>
              <a:cxnLst/>
              <a:rect r="r" b="b" t="t" l="l"/>
              <a:pathLst>
                <a:path h="2237883" w="4862782">
                  <a:moveTo>
                    <a:pt x="11741" y="0"/>
                  </a:moveTo>
                  <a:lnTo>
                    <a:pt x="4851041" y="0"/>
                  </a:lnTo>
                  <a:cubicBezTo>
                    <a:pt x="4857526" y="0"/>
                    <a:pt x="4862782" y="5257"/>
                    <a:pt x="4862782" y="11741"/>
                  </a:cubicBezTo>
                  <a:lnTo>
                    <a:pt x="4862782" y="2226142"/>
                  </a:lnTo>
                  <a:cubicBezTo>
                    <a:pt x="4862782" y="2229256"/>
                    <a:pt x="4861545" y="2232242"/>
                    <a:pt x="4859343" y="2234444"/>
                  </a:cubicBezTo>
                  <a:cubicBezTo>
                    <a:pt x="4857142" y="2236646"/>
                    <a:pt x="4854155" y="2237883"/>
                    <a:pt x="4851041" y="2237883"/>
                  </a:cubicBezTo>
                  <a:lnTo>
                    <a:pt x="11741" y="2237883"/>
                  </a:lnTo>
                  <a:cubicBezTo>
                    <a:pt x="5257" y="2237883"/>
                    <a:pt x="0" y="2232626"/>
                    <a:pt x="0" y="2226142"/>
                  </a:cubicBezTo>
                  <a:lnTo>
                    <a:pt x="0" y="11741"/>
                  </a:lnTo>
                  <a:cubicBezTo>
                    <a:pt x="0" y="5257"/>
                    <a:pt x="5257" y="0"/>
                    <a:pt x="11741" y="0"/>
                  </a:cubicBezTo>
                  <a:close/>
                </a:path>
              </a:pathLst>
            </a:custGeom>
            <a:solidFill>
              <a:srgbClr val="073699"/>
            </a:solidFill>
          </p:spPr>
        </p:sp>
        <p:sp>
          <p:nvSpPr>
            <p:cNvPr name="TextBox 6" id="6"/>
            <p:cNvSpPr txBox="true"/>
            <p:nvPr/>
          </p:nvSpPr>
          <p:spPr>
            <a:xfrm>
              <a:off x="0" y="0"/>
              <a:ext cx="4862782" cy="2237883"/>
            </a:xfrm>
            <a:prstGeom prst="rect">
              <a:avLst/>
            </a:prstGeom>
          </p:spPr>
          <p:txBody>
            <a:bodyPr anchor="ctr" rtlCol="false" tIns="50800" lIns="50800" bIns="50800" rIns="50800"/>
            <a:lstStyle/>
            <a:p>
              <a:pPr algn="ctr">
                <a:lnSpc>
                  <a:spcPts val="2879"/>
                </a:lnSpc>
              </a:pPr>
            </a:p>
          </p:txBody>
        </p:sp>
      </p:grpSp>
      <p:sp>
        <p:nvSpPr>
          <p:cNvPr name="TextBox 7" id="7"/>
          <p:cNvSpPr txBox="true"/>
          <p:nvPr/>
        </p:nvSpPr>
        <p:spPr>
          <a:xfrm rot="0">
            <a:off x="498212" y="1510942"/>
            <a:ext cx="16761088" cy="8271339"/>
          </a:xfrm>
          <a:prstGeom prst="rect">
            <a:avLst/>
          </a:prstGeom>
        </p:spPr>
        <p:txBody>
          <a:bodyPr anchor="t" rtlCol="false" tIns="0" lIns="0" bIns="0" rIns="0">
            <a:spAutoFit/>
          </a:bodyPr>
          <a:lstStyle/>
          <a:p>
            <a:pPr algn="just">
              <a:lnSpc>
                <a:spcPts val="5049"/>
              </a:lnSpc>
            </a:pPr>
            <a:r>
              <a:rPr lang="en-US" sz="3606" b="true">
                <a:solidFill>
                  <a:srgbClr val="E6B22D"/>
                </a:solidFill>
                <a:latin typeface="Canva Sans Bold"/>
                <a:ea typeface="Canva Sans Bold"/>
                <a:cs typeface="Canva Sans Bold"/>
                <a:sym typeface="Canva Sans Bold"/>
              </a:rPr>
              <a:t>Analysis Methods</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Data Cleaning &amp; Preprocessing</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Descriptive Analysis</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Trend Analysis</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Category-wise Analysis</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Customer Purchase Analysis </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Visualization</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Inventory Analysis</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Actionable Insight Generation </a:t>
            </a:r>
          </a:p>
          <a:p>
            <a:pPr algn="just">
              <a:lnSpc>
                <a:spcPts val="5049"/>
              </a:lnSpc>
            </a:pPr>
            <a:r>
              <a:rPr lang="en-US" sz="3606" b="true">
                <a:solidFill>
                  <a:srgbClr val="E6B22D"/>
                </a:solidFill>
                <a:latin typeface="Canva Sans Bold"/>
                <a:ea typeface="Canva Sans Bold"/>
                <a:cs typeface="Canva Sans Bold"/>
                <a:sym typeface="Canva Sans Bold"/>
              </a:rPr>
              <a:t>Tools Used:</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  Google Sheets – for data entry, cleaning, and basic analysis</a:t>
            </a:r>
          </a:p>
          <a:p>
            <a:pPr algn="just">
              <a:lnSpc>
                <a:spcPts val="5049"/>
              </a:lnSpc>
            </a:pPr>
          </a:p>
          <a:p>
            <a:pPr algn="just">
              <a:lnSpc>
                <a:spcPts val="5049"/>
              </a:lnSpc>
            </a:pPr>
          </a:p>
        </p:txBody>
      </p:sp>
      <p:sp>
        <p:nvSpPr>
          <p:cNvPr name="Freeform 8" id="8"/>
          <p:cNvSpPr/>
          <p:nvPr/>
        </p:nvSpPr>
        <p:spPr>
          <a:xfrm flipH="false" flipV="false" rot="0">
            <a:off x="8055752" y="1720469"/>
            <a:ext cx="10232248" cy="5333559"/>
          </a:xfrm>
          <a:custGeom>
            <a:avLst/>
            <a:gdLst/>
            <a:ahLst/>
            <a:cxnLst/>
            <a:rect r="r" b="b" t="t" l="l"/>
            <a:pathLst>
              <a:path h="5333559" w="10232248">
                <a:moveTo>
                  <a:pt x="0" y="0"/>
                </a:moveTo>
                <a:lnTo>
                  <a:pt x="10232248" y="0"/>
                </a:lnTo>
                <a:lnTo>
                  <a:pt x="10232248" y="5333560"/>
                </a:lnTo>
                <a:lnTo>
                  <a:pt x="0" y="5333560"/>
                </a:lnTo>
                <a:lnTo>
                  <a:pt x="0" y="0"/>
                </a:lnTo>
                <a:close/>
              </a:path>
            </a:pathLst>
          </a:custGeom>
          <a:blipFill>
            <a:blip r:embed="rId5"/>
            <a:stretch>
              <a:fillRect l="0" t="0" r="0" b="0"/>
            </a:stretch>
          </a:blipFill>
        </p:spPr>
      </p:sp>
      <p:sp>
        <p:nvSpPr>
          <p:cNvPr name="TextBox 9" id="9"/>
          <p:cNvSpPr txBox="true"/>
          <p:nvPr/>
        </p:nvSpPr>
        <p:spPr>
          <a:xfrm rot="0">
            <a:off x="498212" y="266848"/>
            <a:ext cx="17017070" cy="1149350"/>
          </a:xfrm>
          <a:prstGeom prst="rect">
            <a:avLst/>
          </a:prstGeom>
        </p:spPr>
        <p:txBody>
          <a:bodyPr anchor="t" rtlCol="false" tIns="0" lIns="0" bIns="0" rIns="0">
            <a:spAutoFit/>
          </a:bodyPr>
          <a:lstStyle/>
          <a:p>
            <a:pPr algn="ctr">
              <a:lnSpc>
                <a:spcPts val="8800"/>
              </a:lnSpc>
            </a:pPr>
            <a:r>
              <a:rPr lang="en-US" sz="8000" b="true">
                <a:solidFill>
                  <a:srgbClr val="101010"/>
                </a:solidFill>
                <a:latin typeface="Open Sauce Bold"/>
                <a:ea typeface="Open Sauce Bold"/>
                <a:cs typeface="Open Sauce Bold"/>
                <a:sym typeface="Open Sauce Bold"/>
              </a:rPr>
              <a:t>Analysis Method and Tools used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15930684" y="7232922"/>
            <a:ext cx="6360639" cy="6002853"/>
          </a:xfrm>
          <a:custGeom>
            <a:avLst/>
            <a:gdLst/>
            <a:ahLst/>
            <a:cxnLst/>
            <a:rect r="r" b="b" t="t" l="l"/>
            <a:pathLst>
              <a:path h="6002853" w="6360639">
                <a:moveTo>
                  <a:pt x="0" y="0"/>
                </a:moveTo>
                <a:lnTo>
                  <a:pt x="6360639" y="0"/>
                </a:lnTo>
                <a:lnTo>
                  <a:pt x="6360639" y="6002853"/>
                </a:lnTo>
                <a:lnTo>
                  <a:pt x="0" y="6002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1416199"/>
            <a:ext cx="18842802" cy="8366083"/>
            <a:chOff x="0" y="0"/>
            <a:chExt cx="4962713" cy="2203413"/>
          </a:xfrm>
        </p:grpSpPr>
        <p:sp>
          <p:nvSpPr>
            <p:cNvPr name="Freeform 5" id="5"/>
            <p:cNvSpPr/>
            <p:nvPr/>
          </p:nvSpPr>
          <p:spPr>
            <a:xfrm flipH="false" flipV="false" rot="0">
              <a:off x="0" y="0"/>
              <a:ext cx="4962713" cy="2203413"/>
            </a:xfrm>
            <a:custGeom>
              <a:avLst/>
              <a:gdLst/>
              <a:ahLst/>
              <a:cxnLst/>
              <a:rect r="r" b="b" t="t" l="l"/>
              <a:pathLst>
                <a:path h="2203413" w="4962713">
                  <a:moveTo>
                    <a:pt x="11504" y="0"/>
                  </a:moveTo>
                  <a:lnTo>
                    <a:pt x="4951209" y="0"/>
                  </a:lnTo>
                  <a:cubicBezTo>
                    <a:pt x="4954260" y="0"/>
                    <a:pt x="4957186" y="1212"/>
                    <a:pt x="4959344" y="3370"/>
                  </a:cubicBezTo>
                  <a:cubicBezTo>
                    <a:pt x="4961501" y="5527"/>
                    <a:pt x="4962713" y="8453"/>
                    <a:pt x="4962713" y="11504"/>
                  </a:cubicBezTo>
                  <a:lnTo>
                    <a:pt x="4962713" y="2191908"/>
                  </a:lnTo>
                  <a:cubicBezTo>
                    <a:pt x="4962713" y="2194959"/>
                    <a:pt x="4961501" y="2197886"/>
                    <a:pt x="4959344" y="2200043"/>
                  </a:cubicBezTo>
                  <a:cubicBezTo>
                    <a:pt x="4957186" y="2202200"/>
                    <a:pt x="4954260" y="2203413"/>
                    <a:pt x="4951209" y="2203413"/>
                  </a:cubicBezTo>
                  <a:lnTo>
                    <a:pt x="11504" y="2203413"/>
                  </a:lnTo>
                  <a:cubicBezTo>
                    <a:pt x="8453" y="2203413"/>
                    <a:pt x="5527" y="2202200"/>
                    <a:pt x="3370" y="2200043"/>
                  </a:cubicBezTo>
                  <a:cubicBezTo>
                    <a:pt x="1212" y="2197886"/>
                    <a:pt x="0" y="2194959"/>
                    <a:pt x="0" y="2191908"/>
                  </a:cubicBezTo>
                  <a:lnTo>
                    <a:pt x="0" y="11504"/>
                  </a:lnTo>
                  <a:cubicBezTo>
                    <a:pt x="0" y="8453"/>
                    <a:pt x="1212" y="5527"/>
                    <a:pt x="3370" y="3370"/>
                  </a:cubicBezTo>
                  <a:cubicBezTo>
                    <a:pt x="5527" y="1212"/>
                    <a:pt x="8453" y="0"/>
                    <a:pt x="11504" y="0"/>
                  </a:cubicBezTo>
                  <a:close/>
                </a:path>
              </a:pathLst>
            </a:custGeom>
            <a:solidFill>
              <a:srgbClr val="073699"/>
            </a:solidFill>
          </p:spPr>
        </p:sp>
        <p:sp>
          <p:nvSpPr>
            <p:cNvPr name="TextBox 6" id="6"/>
            <p:cNvSpPr txBox="true"/>
            <p:nvPr/>
          </p:nvSpPr>
          <p:spPr>
            <a:xfrm>
              <a:off x="0" y="0"/>
              <a:ext cx="4962713" cy="2203413"/>
            </a:xfrm>
            <a:prstGeom prst="rect">
              <a:avLst/>
            </a:prstGeom>
          </p:spPr>
          <p:txBody>
            <a:bodyPr anchor="ctr" rtlCol="false" tIns="50800" lIns="50800" bIns="50800" rIns="50800"/>
            <a:lstStyle/>
            <a:p>
              <a:pPr algn="ctr">
                <a:lnSpc>
                  <a:spcPts val="2879"/>
                </a:lnSpc>
              </a:pPr>
            </a:p>
          </p:txBody>
        </p:sp>
      </p:grpSp>
      <p:sp>
        <p:nvSpPr>
          <p:cNvPr name="Freeform 7" id="7"/>
          <p:cNvSpPr/>
          <p:nvPr/>
        </p:nvSpPr>
        <p:spPr>
          <a:xfrm flipH="false" flipV="false" rot="0">
            <a:off x="10695160" y="2396188"/>
            <a:ext cx="7793066" cy="5881826"/>
          </a:xfrm>
          <a:custGeom>
            <a:avLst/>
            <a:gdLst/>
            <a:ahLst/>
            <a:cxnLst/>
            <a:rect r="r" b="b" t="t" l="l"/>
            <a:pathLst>
              <a:path h="5881826" w="7793066">
                <a:moveTo>
                  <a:pt x="0" y="0"/>
                </a:moveTo>
                <a:lnTo>
                  <a:pt x="7793066" y="0"/>
                </a:lnTo>
                <a:lnTo>
                  <a:pt x="7793066" y="5881827"/>
                </a:lnTo>
                <a:lnTo>
                  <a:pt x="0" y="5881827"/>
                </a:lnTo>
                <a:lnTo>
                  <a:pt x="0" y="0"/>
                </a:lnTo>
                <a:close/>
              </a:path>
            </a:pathLst>
          </a:custGeom>
          <a:blipFill>
            <a:blip r:embed="rId5"/>
            <a:stretch>
              <a:fillRect l="-476" t="0" r="-476" b="0"/>
            </a:stretch>
          </a:blipFill>
        </p:spPr>
      </p:sp>
      <p:sp>
        <p:nvSpPr>
          <p:cNvPr name="TextBox 8" id="8"/>
          <p:cNvSpPr txBox="true"/>
          <p:nvPr/>
        </p:nvSpPr>
        <p:spPr>
          <a:xfrm rot="0">
            <a:off x="498212" y="266848"/>
            <a:ext cx="17017070" cy="1149350"/>
          </a:xfrm>
          <a:prstGeom prst="rect">
            <a:avLst/>
          </a:prstGeom>
        </p:spPr>
        <p:txBody>
          <a:bodyPr anchor="t" rtlCol="false" tIns="0" lIns="0" bIns="0" rIns="0">
            <a:spAutoFit/>
          </a:bodyPr>
          <a:lstStyle/>
          <a:p>
            <a:pPr algn="ctr">
              <a:lnSpc>
                <a:spcPts val="8800"/>
              </a:lnSpc>
            </a:pPr>
            <a:r>
              <a:rPr lang="en-US" sz="8000" b="true">
                <a:solidFill>
                  <a:srgbClr val="101010"/>
                </a:solidFill>
                <a:latin typeface="Open Sauce Bold"/>
                <a:ea typeface="Open Sauce Bold"/>
                <a:cs typeface="Open Sauce Bold"/>
                <a:sym typeface="Open Sauce Bold"/>
              </a:rPr>
              <a:t>Results and Fidings</a:t>
            </a:r>
          </a:p>
        </p:txBody>
      </p:sp>
      <p:sp>
        <p:nvSpPr>
          <p:cNvPr name="TextBox 9" id="9"/>
          <p:cNvSpPr txBox="true"/>
          <p:nvPr/>
        </p:nvSpPr>
        <p:spPr>
          <a:xfrm rot="0">
            <a:off x="498212" y="1510942"/>
            <a:ext cx="9850737" cy="8271339"/>
          </a:xfrm>
          <a:prstGeom prst="rect">
            <a:avLst/>
          </a:prstGeom>
        </p:spPr>
        <p:txBody>
          <a:bodyPr anchor="t" rtlCol="false" tIns="0" lIns="0" bIns="0" rIns="0">
            <a:spAutoFit/>
          </a:bodyPr>
          <a:lstStyle/>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Staples and essentials generated the highest sales, with fast-moving items showing steady monthly demand.</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Festival seasons caused clear spikes in sales, especially for beverages and personal care items.</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Slow-moving products led to overstocking, showing the need for better inventory control.</a:t>
            </a:r>
          </a:p>
          <a:p>
            <a:pPr algn="just" marL="778694" indent="-389347" lvl="1">
              <a:lnSpc>
                <a:spcPts val="5049"/>
              </a:lnSpc>
              <a:buAutoNum type="arabicPeriod" startAt="1"/>
            </a:pPr>
            <a:r>
              <a:rPr lang="en-US" sz="3606">
                <a:solidFill>
                  <a:srgbClr val="FFFFFF"/>
                </a:solidFill>
                <a:latin typeface="Canva Sans"/>
                <a:ea typeface="Canva Sans"/>
                <a:cs typeface="Canva Sans"/>
                <a:sym typeface="Canva Sans"/>
              </a:rPr>
              <a:t>Repeat purchases showed strong customer loyalty, but stockouts in key items highlight poor demand forecasting.</a:t>
            </a:r>
          </a:p>
          <a:p>
            <a:pPr algn="just">
              <a:lnSpc>
                <a:spcPts val="504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15930684" y="7232922"/>
            <a:ext cx="6360639" cy="6002853"/>
          </a:xfrm>
          <a:custGeom>
            <a:avLst/>
            <a:gdLst/>
            <a:ahLst/>
            <a:cxnLst/>
            <a:rect r="r" b="b" t="t" l="l"/>
            <a:pathLst>
              <a:path h="6002853" w="6360639">
                <a:moveTo>
                  <a:pt x="0" y="0"/>
                </a:moveTo>
                <a:lnTo>
                  <a:pt x="6360639" y="0"/>
                </a:lnTo>
                <a:lnTo>
                  <a:pt x="6360639" y="6002853"/>
                </a:lnTo>
                <a:lnTo>
                  <a:pt x="0" y="6002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1416199"/>
            <a:ext cx="18044567" cy="8366083"/>
            <a:chOff x="0" y="0"/>
            <a:chExt cx="4752479" cy="2203413"/>
          </a:xfrm>
        </p:grpSpPr>
        <p:sp>
          <p:nvSpPr>
            <p:cNvPr name="Freeform 5" id="5"/>
            <p:cNvSpPr/>
            <p:nvPr/>
          </p:nvSpPr>
          <p:spPr>
            <a:xfrm flipH="false" flipV="false" rot="0">
              <a:off x="0" y="0"/>
              <a:ext cx="4752479" cy="2203413"/>
            </a:xfrm>
            <a:custGeom>
              <a:avLst/>
              <a:gdLst/>
              <a:ahLst/>
              <a:cxnLst/>
              <a:rect r="r" b="b" t="t" l="l"/>
              <a:pathLst>
                <a:path h="2203413" w="4752479">
                  <a:moveTo>
                    <a:pt x="12013" y="0"/>
                  </a:moveTo>
                  <a:lnTo>
                    <a:pt x="4740465" y="0"/>
                  </a:lnTo>
                  <a:cubicBezTo>
                    <a:pt x="4747100" y="0"/>
                    <a:pt x="4752479" y="5379"/>
                    <a:pt x="4752479" y="12013"/>
                  </a:cubicBezTo>
                  <a:lnTo>
                    <a:pt x="4752479" y="2191399"/>
                  </a:lnTo>
                  <a:cubicBezTo>
                    <a:pt x="4752479" y="2194585"/>
                    <a:pt x="4751213" y="2197641"/>
                    <a:pt x="4748960" y="2199894"/>
                  </a:cubicBezTo>
                  <a:cubicBezTo>
                    <a:pt x="4746707" y="2202147"/>
                    <a:pt x="4743652" y="2203413"/>
                    <a:pt x="4740465" y="2203413"/>
                  </a:cubicBezTo>
                  <a:lnTo>
                    <a:pt x="12013" y="2203413"/>
                  </a:lnTo>
                  <a:cubicBezTo>
                    <a:pt x="8827" y="2203413"/>
                    <a:pt x="5772" y="2202147"/>
                    <a:pt x="3519" y="2199894"/>
                  </a:cubicBezTo>
                  <a:cubicBezTo>
                    <a:pt x="1266" y="2197641"/>
                    <a:pt x="0" y="2194585"/>
                    <a:pt x="0" y="2191399"/>
                  </a:cubicBezTo>
                  <a:lnTo>
                    <a:pt x="0" y="12013"/>
                  </a:lnTo>
                  <a:cubicBezTo>
                    <a:pt x="0" y="8827"/>
                    <a:pt x="1266" y="5772"/>
                    <a:pt x="3519" y="3519"/>
                  </a:cubicBezTo>
                  <a:cubicBezTo>
                    <a:pt x="5772" y="1266"/>
                    <a:pt x="8827" y="0"/>
                    <a:pt x="12013" y="0"/>
                  </a:cubicBezTo>
                  <a:close/>
                </a:path>
              </a:pathLst>
            </a:custGeom>
            <a:solidFill>
              <a:srgbClr val="073699"/>
            </a:solidFill>
          </p:spPr>
        </p:sp>
        <p:sp>
          <p:nvSpPr>
            <p:cNvPr name="TextBox 6" id="6"/>
            <p:cNvSpPr txBox="true"/>
            <p:nvPr/>
          </p:nvSpPr>
          <p:spPr>
            <a:xfrm>
              <a:off x="0" y="0"/>
              <a:ext cx="4752479" cy="2203413"/>
            </a:xfrm>
            <a:prstGeom prst="rect">
              <a:avLst/>
            </a:prstGeom>
          </p:spPr>
          <p:txBody>
            <a:bodyPr anchor="ctr" rtlCol="false" tIns="50800" lIns="50800" bIns="50800" rIns="50800"/>
            <a:lstStyle/>
            <a:p>
              <a:pPr algn="ctr">
                <a:lnSpc>
                  <a:spcPts val="2879"/>
                </a:lnSpc>
              </a:pPr>
            </a:p>
          </p:txBody>
        </p:sp>
      </p:grpSp>
      <p:sp>
        <p:nvSpPr>
          <p:cNvPr name="TextBox 7" id="7"/>
          <p:cNvSpPr txBox="true"/>
          <p:nvPr/>
        </p:nvSpPr>
        <p:spPr>
          <a:xfrm rot="0">
            <a:off x="498212" y="1973565"/>
            <a:ext cx="10688355" cy="8909514"/>
          </a:xfrm>
          <a:prstGeom prst="rect">
            <a:avLst/>
          </a:prstGeom>
        </p:spPr>
        <p:txBody>
          <a:bodyPr anchor="t" rtlCol="false" tIns="0" lIns="0" bIns="0" rIns="0">
            <a:spAutoFit/>
          </a:bodyPr>
          <a:lstStyle/>
          <a:p>
            <a:pPr algn="just">
              <a:lnSpc>
                <a:spcPts val="5049"/>
              </a:lnSpc>
            </a:pPr>
            <a:r>
              <a:rPr lang="en-US" sz="3606" b="true">
                <a:solidFill>
                  <a:srgbClr val="E6B22D"/>
                </a:solidFill>
                <a:latin typeface="Canva Sans Bold"/>
                <a:ea typeface="Canva Sans Bold"/>
                <a:cs typeface="Canva Sans Bold"/>
                <a:sym typeface="Canva Sans Bold"/>
              </a:rPr>
              <a:t>Analysis Methods</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Staples generate the highest sales, while slow-moving items affect inventory efficiency.</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Festival seasons increase demand, but essential items face stockouts.</a:t>
            </a:r>
          </a:p>
          <a:p>
            <a:pPr algn="just">
              <a:lnSpc>
                <a:spcPts val="5049"/>
              </a:lnSpc>
            </a:pPr>
          </a:p>
          <a:p>
            <a:pPr algn="just">
              <a:lnSpc>
                <a:spcPts val="5049"/>
              </a:lnSpc>
            </a:pPr>
            <a:r>
              <a:rPr lang="en-US" sz="3606" b="true">
                <a:solidFill>
                  <a:srgbClr val="E6B22D"/>
                </a:solidFill>
                <a:latin typeface="Canva Sans Bold"/>
                <a:ea typeface="Canva Sans Bold"/>
                <a:cs typeface="Canva Sans Bold"/>
                <a:sym typeface="Canva Sans Bold"/>
              </a:rPr>
              <a:t>Tools Used:</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Keep higher stock of fast-moving items and limit slow-moving purchases.</a:t>
            </a:r>
          </a:p>
          <a:p>
            <a:pPr algn="just" marL="778694" indent="-389347" lvl="1">
              <a:lnSpc>
                <a:spcPts val="5049"/>
              </a:lnSpc>
              <a:buFont typeface="Arial"/>
              <a:buChar char="•"/>
            </a:pPr>
            <a:r>
              <a:rPr lang="en-US" sz="3606">
                <a:solidFill>
                  <a:srgbClr val="FFFFFF"/>
                </a:solidFill>
                <a:latin typeface="Canva Sans"/>
                <a:ea typeface="Canva Sans"/>
                <a:cs typeface="Canva Sans"/>
                <a:sym typeface="Canva Sans"/>
              </a:rPr>
              <a:t>Use demand forecasting and offer festival-based promotions to boost sales.</a:t>
            </a:r>
          </a:p>
          <a:p>
            <a:pPr algn="just">
              <a:lnSpc>
                <a:spcPts val="5049"/>
              </a:lnSpc>
            </a:pPr>
          </a:p>
          <a:p>
            <a:pPr algn="just">
              <a:lnSpc>
                <a:spcPts val="5049"/>
              </a:lnSpc>
            </a:pPr>
          </a:p>
        </p:txBody>
      </p:sp>
      <p:sp>
        <p:nvSpPr>
          <p:cNvPr name="Freeform 8" id="8"/>
          <p:cNvSpPr/>
          <p:nvPr/>
        </p:nvSpPr>
        <p:spPr>
          <a:xfrm flipH="false" flipV="false" rot="0">
            <a:off x="11485536" y="3097572"/>
            <a:ext cx="6559031" cy="4055668"/>
          </a:xfrm>
          <a:custGeom>
            <a:avLst/>
            <a:gdLst/>
            <a:ahLst/>
            <a:cxnLst/>
            <a:rect r="r" b="b" t="t" l="l"/>
            <a:pathLst>
              <a:path h="4055668" w="6559031">
                <a:moveTo>
                  <a:pt x="0" y="0"/>
                </a:moveTo>
                <a:lnTo>
                  <a:pt x="6559031" y="0"/>
                </a:lnTo>
                <a:lnTo>
                  <a:pt x="6559031" y="4055667"/>
                </a:lnTo>
                <a:lnTo>
                  <a:pt x="0" y="4055667"/>
                </a:lnTo>
                <a:lnTo>
                  <a:pt x="0" y="0"/>
                </a:lnTo>
                <a:close/>
              </a:path>
            </a:pathLst>
          </a:custGeom>
          <a:blipFill>
            <a:blip r:embed="rId5"/>
            <a:stretch>
              <a:fillRect l="0" t="0" r="0" b="0"/>
            </a:stretch>
          </a:blipFill>
        </p:spPr>
      </p:sp>
      <p:sp>
        <p:nvSpPr>
          <p:cNvPr name="TextBox 9" id="9"/>
          <p:cNvSpPr txBox="true"/>
          <p:nvPr/>
        </p:nvSpPr>
        <p:spPr>
          <a:xfrm rot="0">
            <a:off x="498212" y="266848"/>
            <a:ext cx="17017070" cy="1149350"/>
          </a:xfrm>
          <a:prstGeom prst="rect">
            <a:avLst/>
          </a:prstGeom>
        </p:spPr>
        <p:txBody>
          <a:bodyPr anchor="t" rtlCol="false" tIns="0" lIns="0" bIns="0" rIns="0">
            <a:spAutoFit/>
          </a:bodyPr>
          <a:lstStyle/>
          <a:p>
            <a:pPr algn="ctr">
              <a:lnSpc>
                <a:spcPts val="8800"/>
              </a:lnSpc>
            </a:pPr>
            <a:r>
              <a:rPr lang="en-US" sz="8000" b="true">
                <a:solidFill>
                  <a:srgbClr val="101010"/>
                </a:solidFill>
                <a:latin typeface="Open Sauce Bold"/>
                <a:ea typeface="Open Sauce Bold"/>
                <a:cs typeface="Open Sauce Bold"/>
                <a:sym typeface="Open Sauce Bold"/>
              </a:rPr>
              <a:t>Insights and Recommendations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5400000">
            <a:off x="15930684" y="7232922"/>
            <a:ext cx="6360639" cy="6002853"/>
          </a:xfrm>
          <a:custGeom>
            <a:avLst/>
            <a:gdLst/>
            <a:ahLst/>
            <a:cxnLst/>
            <a:rect r="r" b="b" t="t" l="l"/>
            <a:pathLst>
              <a:path h="6002853" w="6360639">
                <a:moveTo>
                  <a:pt x="0" y="0"/>
                </a:moveTo>
                <a:lnTo>
                  <a:pt x="6360639" y="0"/>
                </a:lnTo>
                <a:lnTo>
                  <a:pt x="6360639" y="6002853"/>
                </a:lnTo>
                <a:lnTo>
                  <a:pt x="0" y="60028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98212" y="266848"/>
            <a:ext cx="17017070" cy="1149350"/>
          </a:xfrm>
          <a:prstGeom prst="rect">
            <a:avLst/>
          </a:prstGeom>
        </p:spPr>
        <p:txBody>
          <a:bodyPr anchor="t" rtlCol="false" tIns="0" lIns="0" bIns="0" rIns="0">
            <a:spAutoFit/>
          </a:bodyPr>
          <a:lstStyle/>
          <a:p>
            <a:pPr algn="ctr">
              <a:lnSpc>
                <a:spcPts val="8800"/>
              </a:lnSpc>
            </a:pPr>
            <a:r>
              <a:rPr lang="en-US" sz="8000" b="true">
                <a:solidFill>
                  <a:srgbClr val="101010"/>
                </a:solidFill>
                <a:latin typeface="Open Sauce Bold"/>
                <a:ea typeface="Open Sauce Bold"/>
                <a:cs typeface="Open Sauce Bold"/>
                <a:sym typeface="Open Sauce Bold"/>
              </a:rPr>
              <a:t>Conclusion</a:t>
            </a:r>
          </a:p>
        </p:txBody>
      </p:sp>
      <p:grpSp>
        <p:nvGrpSpPr>
          <p:cNvPr name="Group 5" id="5"/>
          <p:cNvGrpSpPr/>
          <p:nvPr/>
        </p:nvGrpSpPr>
        <p:grpSpPr>
          <a:xfrm rot="0">
            <a:off x="0" y="1416199"/>
            <a:ext cx="18044567" cy="8366083"/>
            <a:chOff x="0" y="0"/>
            <a:chExt cx="4752479" cy="2203413"/>
          </a:xfrm>
        </p:grpSpPr>
        <p:sp>
          <p:nvSpPr>
            <p:cNvPr name="Freeform 6" id="6"/>
            <p:cNvSpPr/>
            <p:nvPr/>
          </p:nvSpPr>
          <p:spPr>
            <a:xfrm flipH="false" flipV="false" rot="0">
              <a:off x="0" y="0"/>
              <a:ext cx="4752479" cy="2203413"/>
            </a:xfrm>
            <a:custGeom>
              <a:avLst/>
              <a:gdLst/>
              <a:ahLst/>
              <a:cxnLst/>
              <a:rect r="r" b="b" t="t" l="l"/>
              <a:pathLst>
                <a:path h="2203413" w="4752479">
                  <a:moveTo>
                    <a:pt x="12013" y="0"/>
                  </a:moveTo>
                  <a:lnTo>
                    <a:pt x="4740465" y="0"/>
                  </a:lnTo>
                  <a:cubicBezTo>
                    <a:pt x="4747100" y="0"/>
                    <a:pt x="4752479" y="5379"/>
                    <a:pt x="4752479" y="12013"/>
                  </a:cubicBezTo>
                  <a:lnTo>
                    <a:pt x="4752479" y="2191399"/>
                  </a:lnTo>
                  <a:cubicBezTo>
                    <a:pt x="4752479" y="2194585"/>
                    <a:pt x="4751213" y="2197641"/>
                    <a:pt x="4748960" y="2199894"/>
                  </a:cubicBezTo>
                  <a:cubicBezTo>
                    <a:pt x="4746707" y="2202147"/>
                    <a:pt x="4743652" y="2203413"/>
                    <a:pt x="4740465" y="2203413"/>
                  </a:cubicBezTo>
                  <a:lnTo>
                    <a:pt x="12013" y="2203413"/>
                  </a:lnTo>
                  <a:cubicBezTo>
                    <a:pt x="8827" y="2203413"/>
                    <a:pt x="5772" y="2202147"/>
                    <a:pt x="3519" y="2199894"/>
                  </a:cubicBezTo>
                  <a:cubicBezTo>
                    <a:pt x="1266" y="2197641"/>
                    <a:pt x="0" y="2194585"/>
                    <a:pt x="0" y="2191399"/>
                  </a:cubicBezTo>
                  <a:lnTo>
                    <a:pt x="0" y="12013"/>
                  </a:lnTo>
                  <a:cubicBezTo>
                    <a:pt x="0" y="8827"/>
                    <a:pt x="1266" y="5772"/>
                    <a:pt x="3519" y="3519"/>
                  </a:cubicBezTo>
                  <a:cubicBezTo>
                    <a:pt x="5772" y="1266"/>
                    <a:pt x="8827" y="0"/>
                    <a:pt x="12013" y="0"/>
                  </a:cubicBezTo>
                  <a:close/>
                </a:path>
              </a:pathLst>
            </a:custGeom>
            <a:solidFill>
              <a:srgbClr val="073699"/>
            </a:solidFill>
          </p:spPr>
        </p:sp>
        <p:sp>
          <p:nvSpPr>
            <p:cNvPr name="TextBox 7" id="7"/>
            <p:cNvSpPr txBox="true"/>
            <p:nvPr/>
          </p:nvSpPr>
          <p:spPr>
            <a:xfrm>
              <a:off x="0" y="0"/>
              <a:ext cx="4752479" cy="2203413"/>
            </a:xfrm>
            <a:prstGeom prst="rect">
              <a:avLst/>
            </a:prstGeom>
          </p:spPr>
          <p:txBody>
            <a:bodyPr anchor="ctr" rtlCol="false" tIns="50800" lIns="50800" bIns="50800" rIns="50800"/>
            <a:lstStyle/>
            <a:p>
              <a:pPr algn="ctr">
                <a:lnSpc>
                  <a:spcPts val="2879"/>
                </a:lnSpc>
              </a:pPr>
            </a:p>
          </p:txBody>
        </p:sp>
      </p:grpSp>
      <p:sp>
        <p:nvSpPr>
          <p:cNvPr name="TextBox 8" id="8"/>
          <p:cNvSpPr txBox="true"/>
          <p:nvPr/>
        </p:nvSpPr>
        <p:spPr>
          <a:xfrm rot="0">
            <a:off x="498212" y="2190095"/>
            <a:ext cx="16761088" cy="6377997"/>
          </a:xfrm>
          <a:prstGeom prst="rect">
            <a:avLst/>
          </a:prstGeom>
        </p:spPr>
        <p:txBody>
          <a:bodyPr anchor="t" rtlCol="false" tIns="0" lIns="0" bIns="0" rIns="0">
            <a:spAutoFit/>
          </a:bodyPr>
          <a:lstStyle/>
          <a:p>
            <a:pPr algn="just">
              <a:lnSpc>
                <a:spcPts val="5621"/>
              </a:lnSpc>
            </a:pPr>
            <a:r>
              <a:rPr lang="en-US" sz="4015">
                <a:solidFill>
                  <a:srgbClr val="FFFFFF"/>
                </a:solidFill>
                <a:latin typeface="Canva Sans"/>
                <a:ea typeface="Canva Sans"/>
                <a:cs typeface="Canva Sans"/>
                <a:sym typeface="Canva Sans"/>
              </a:rPr>
              <a:t>The analysis of Ayyapa Best Price Supermarket highlights the importance of data-driven decision-making for improving sales and inventory efficiency. Staples continue to dominate customer demand, while seasonal trends create predictable fluctuations. Addressing stockouts, reducing slow-moving items, and implementing simple forecasting methods can significantly enhance overall performance. With informed planning and targeted strategies, the supermarket can optimize operations, improve customer satisfaction, and support sustainable business growth.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4209712" y="2740291"/>
            <a:ext cx="9868577" cy="1422400"/>
          </a:xfrm>
          <a:prstGeom prst="rect">
            <a:avLst/>
          </a:prstGeom>
        </p:spPr>
        <p:txBody>
          <a:bodyPr anchor="t" rtlCol="false" tIns="0" lIns="0" bIns="0" rIns="0">
            <a:spAutoFit/>
          </a:bodyPr>
          <a:lstStyle/>
          <a:p>
            <a:pPr algn="ctr">
              <a:lnSpc>
                <a:spcPts val="10999"/>
              </a:lnSpc>
            </a:pPr>
            <a:r>
              <a:rPr lang="en-US" sz="9999" b="true">
                <a:solidFill>
                  <a:srgbClr val="101010"/>
                </a:solidFill>
                <a:latin typeface="Open Sauce Bold"/>
                <a:ea typeface="Open Sauce Bold"/>
                <a:cs typeface="Open Sauce Bold"/>
                <a:sym typeface="Open Sauce Bold"/>
              </a:rPr>
              <a:t>Thank You </a:t>
            </a:r>
          </a:p>
        </p:txBody>
      </p:sp>
      <p:grpSp>
        <p:nvGrpSpPr>
          <p:cNvPr name="Group 4" id="4"/>
          <p:cNvGrpSpPr/>
          <p:nvPr/>
        </p:nvGrpSpPr>
        <p:grpSpPr>
          <a:xfrm rot="0">
            <a:off x="6088897" y="5695660"/>
            <a:ext cx="6204897" cy="2114712"/>
            <a:chOff x="0" y="0"/>
            <a:chExt cx="1634211" cy="556961"/>
          </a:xfrm>
        </p:grpSpPr>
        <p:sp>
          <p:nvSpPr>
            <p:cNvPr name="Freeform 5" id="5"/>
            <p:cNvSpPr/>
            <p:nvPr/>
          </p:nvSpPr>
          <p:spPr>
            <a:xfrm flipH="false" flipV="false" rot="0">
              <a:off x="0" y="0"/>
              <a:ext cx="1634211" cy="556961"/>
            </a:xfrm>
            <a:custGeom>
              <a:avLst/>
              <a:gdLst/>
              <a:ahLst/>
              <a:cxnLst/>
              <a:rect r="r" b="b" t="t" l="l"/>
              <a:pathLst>
                <a:path h="556961" w="1634211">
                  <a:moveTo>
                    <a:pt x="34936" y="0"/>
                  </a:moveTo>
                  <a:lnTo>
                    <a:pt x="1599276" y="0"/>
                  </a:lnTo>
                  <a:cubicBezTo>
                    <a:pt x="1618570" y="0"/>
                    <a:pt x="1634211" y="15641"/>
                    <a:pt x="1634211" y="34936"/>
                  </a:cubicBezTo>
                  <a:lnTo>
                    <a:pt x="1634211" y="522025"/>
                  </a:lnTo>
                  <a:cubicBezTo>
                    <a:pt x="1634211" y="541320"/>
                    <a:pt x="1618570" y="556961"/>
                    <a:pt x="1599276" y="556961"/>
                  </a:cubicBezTo>
                  <a:lnTo>
                    <a:pt x="34936" y="556961"/>
                  </a:lnTo>
                  <a:cubicBezTo>
                    <a:pt x="15641" y="556961"/>
                    <a:pt x="0" y="541320"/>
                    <a:pt x="0" y="522025"/>
                  </a:cubicBezTo>
                  <a:lnTo>
                    <a:pt x="0" y="34936"/>
                  </a:lnTo>
                  <a:cubicBezTo>
                    <a:pt x="0" y="15641"/>
                    <a:pt x="15641" y="0"/>
                    <a:pt x="34936" y="0"/>
                  </a:cubicBezTo>
                  <a:close/>
                </a:path>
              </a:pathLst>
            </a:custGeom>
            <a:solidFill>
              <a:srgbClr val="073699"/>
            </a:solidFill>
          </p:spPr>
        </p:sp>
        <p:sp>
          <p:nvSpPr>
            <p:cNvPr name="TextBox 6" id="6"/>
            <p:cNvSpPr txBox="true"/>
            <p:nvPr/>
          </p:nvSpPr>
          <p:spPr>
            <a:xfrm>
              <a:off x="0" y="0"/>
              <a:ext cx="1634211" cy="556961"/>
            </a:xfrm>
            <a:prstGeom prst="rect">
              <a:avLst/>
            </a:prstGeom>
          </p:spPr>
          <p:txBody>
            <a:bodyPr anchor="ctr" rtlCol="false" tIns="50800" lIns="50800" bIns="50800" rIns="50800"/>
            <a:lstStyle/>
            <a:p>
              <a:pPr algn="ctr">
                <a:lnSpc>
                  <a:spcPts val="2879"/>
                </a:lnSpc>
              </a:pPr>
            </a:p>
          </p:txBody>
        </p:sp>
      </p:grpSp>
      <p:sp>
        <p:nvSpPr>
          <p:cNvPr name="TextBox 7" id="7"/>
          <p:cNvSpPr txBox="true"/>
          <p:nvPr/>
        </p:nvSpPr>
        <p:spPr>
          <a:xfrm rot="0">
            <a:off x="6235279" y="5871424"/>
            <a:ext cx="5817441" cy="495300"/>
          </a:xfrm>
          <a:prstGeom prst="rect">
            <a:avLst/>
          </a:prstGeom>
        </p:spPr>
        <p:txBody>
          <a:bodyPr anchor="t" rtlCol="false" tIns="0" lIns="0" bIns="0" rIns="0">
            <a:spAutoFit/>
          </a:bodyPr>
          <a:lstStyle/>
          <a:p>
            <a:pPr algn="l">
              <a:lnSpc>
                <a:spcPts val="3839"/>
              </a:lnSpc>
            </a:pPr>
            <a:r>
              <a:rPr lang="en-US" sz="3199" b="true">
                <a:solidFill>
                  <a:srgbClr val="FFFFFF"/>
                </a:solidFill>
                <a:latin typeface="Open Sauce Bold"/>
                <a:ea typeface="Open Sauce Bold"/>
                <a:cs typeface="Open Sauce Bold"/>
                <a:sym typeface="Open Sauce Bold"/>
              </a:rPr>
              <a:t> Sai Reshmitha Ponnaganti</a:t>
            </a:r>
          </a:p>
        </p:txBody>
      </p:sp>
      <p:sp>
        <p:nvSpPr>
          <p:cNvPr name="TextBox 8" id="8"/>
          <p:cNvSpPr txBox="true"/>
          <p:nvPr/>
        </p:nvSpPr>
        <p:spPr>
          <a:xfrm rot="0">
            <a:off x="6235279" y="6500603"/>
            <a:ext cx="4289165" cy="495300"/>
          </a:xfrm>
          <a:prstGeom prst="rect">
            <a:avLst/>
          </a:prstGeom>
        </p:spPr>
        <p:txBody>
          <a:bodyPr anchor="t" rtlCol="false" tIns="0" lIns="0" bIns="0" rIns="0">
            <a:spAutoFit/>
          </a:bodyPr>
          <a:lstStyle/>
          <a:p>
            <a:pPr algn="ctr">
              <a:lnSpc>
                <a:spcPts val="3839"/>
              </a:lnSpc>
            </a:pPr>
            <a:r>
              <a:rPr lang="en-US" sz="3199" b="true">
                <a:solidFill>
                  <a:srgbClr val="FFFFFF"/>
                </a:solidFill>
                <a:latin typeface="Open Sauce Bold"/>
                <a:ea typeface="Open Sauce Bold"/>
                <a:cs typeface="Open Sauce Bold"/>
                <a:sym typeface="Open Sauce Bold"/>
              </a:rPr>
              <a:t>Roll No:23F3004280</a:t>
            </a:r>
          </a:p>
        </p:txBody>
      </p:sp>
      <p:sp>
        <p:nvSpPr>
          <p:cNvPr name="TextBox 9" id="9"/>
          <p:cNvSpPr txBox="true"/>
          <p:nvPr/>
        </p:nvSpPr>
        <p:spPr>
          <a:xfrm rot="0">
            <a:off x="5539210" y="7138778"/>
            <a:ext cx="6204897" cy="361950"/>
          </a:xfrm>
          <a:prstGeom prst="rect">
            <a:avLst/>
          </a:prstGeom>
        </p:spPr>
        <p:txBody>
          <a:bodyPr anchor="t" rtlCol="false" tIns="0" lIns="0" bIns="0" rIns="0">
            <a:spAutoFit/>
          </a:bodyPr>
          <a:lstStyle/>
          <a:p>
            <a:pPr algn="ctr">
              <a:lnSpc>
                <a:spcPts val="2879"/>
              </a:lnSpc>
              <a:spcBef>
                <a:spcPct val="0"/>
              </a:spcBef>
            </a:pPr>
            <a:r>
              <a:rPr lang="en-US" sz="2400">
                <a:solidFill>
                  <a:srgbClr val="FFFFFF"/>
                </a:solidFill>
                <a:latin typeface="Open Sauce"/>
                <a:ea typeface="Open Sauce"/>
                <a:cs typeface="Open Sauce"/>
                <a:sym typeface="Open Sauce"/>
              </a:rPr>
              <a:t>23f3004280@ds.study.iitm.ac.in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DAG47SQ6cYI</dc:identifier>
  <dcterms:modified xsi:type="dcterms:W3CDTF">2011-08-01T06:04:30Z</dcterms:modified>
  <cp:revision>1</cp:revision>
  <dc:title>BDM</dc:title>
</cp:coreProperties>
</file>